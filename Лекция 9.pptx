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62" r:id="rId5"/>
    <p:sldId id="264" r:id="rId6"/>
    <p:sldId id="265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19E24-CC51-40D1-B947-0D5D2E6E4FD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3D806-AF55-4BA7-862A-88F605DA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399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ECDDB-51D6-BFA9-55A7-B93C1538F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068767-5399-BCC9-5E41-00E66E8B4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496729-FA90-9E94-227A-33615B13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E38AF5-A13B-CEA7-8A9E-36A2FCFE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4D2398-44ED-602B-56E8-DFAB8B705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69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A2D694-B912-0B02-0387-1DF6DEC2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5F72BA-5DF4-B52B-AE46-577D5D0C5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449CA-1B04-DD67-5923-1F8C89C4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4091A7-9D1C-BD8A-B8D7-B706CE92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908580-C48F-7824-C639-9B778752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98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3F90C-12B5-1C2B-EE99-9D2AFB801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87D0BE-4DA2-B04D-816A-8BABA2203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6838FA-6F3E-8E0F-A074-0746E5FCC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4EE0FC-3D98-89F7-2E79-1295CB91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84CD3F-B8BC-20AD-8739-ED934C19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358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CABD9-103E-2FAE-713A-BDB5B3FD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369854-31C5-E1C3-0CA7-87A1BD25F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8EC841-D906-0609-F1FC-31BD782C3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C15345-86CE-3DB9-F049-108BEB562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3E30E3-2B80-2BE5-C8A6-51F676DF9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3E0A24-1EE9-997B-519C-60D96C73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0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D8D26-7A15-2A4B-EE0B-939D02FF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510F7B-2A5E-B8FB-003B-9EC65D1F7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42CBEA-58F9-2664-4006-919002A9B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EAECD25-BCE8-49A5-877F-1884BA5EA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2B15B9-1808-EF20-F9DD-2E7B37728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58FD988-B265-E2E5-D60B-29147118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B26D928-CEF2-7898-2E52-F3CFFAB6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7CE4F3A-4830-5031-46E1-B51B9B1F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27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13688-24C5-B47D-75C7-3A108598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27A56BE-F0D7-EB2B-51BE-C5D2C50C0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DEAF303-2E92-4104-8756-06460285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1FF870-589C-9925-C72B-81760777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08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3B9B10-B3A8-CCE4-B034-7FAA3A7F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2240013-D3A9-6BE7-F5BB-1250D787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54E64D-E498-ED86-48E8-191E37A2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899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6F4C0F-EDB7-643B-CF4E-48B566541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4163E0-9E39-547D-2C74-5BF2C20FB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7AB78E-9CD6-6655-666A-B3811C497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252B21-0EE0-3EE1-89AE-80500610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71F5B8-FF9E-1955-F770-25006E7CE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EB689B-BD67-6F46-CDDC-C1A6E892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87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0A45C-E1B1-01B0-391B-52061F6A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25B4DE-0B84-5B4A-177D-4544BD370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DAF090-1543-949F-1A81-5031018DE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56ACEC-035F-1FE3-4DDC-53118F21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E074AB-C5DC-5AD6-8E4F-236D0058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9B2AD6-4E2F-B741-0213-52D6B609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00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74D59-85A7-82C1-4136-6BC930DD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89EB6C-AC0D-66EA-22CD-DA43C830A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0C2C0-8393-D03A-40F7-7146B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057178-1C5D-3F9A-FBD3-CF8DE8E8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A34288-D9AB-928B-358B-C684FDCB9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98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C4AD702-E748-3E17-B36B-1A8A9DF31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6FDD56-9023-79A7-C031-56DCC7CA6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32A8-ADCC-1E7C-DAAC-8BEE1300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E7CA65-5E6E-0320-429E-AC72F1C1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297B34-A093-27B6-7CF7-7149D7ED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54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865F8-01D0-FC87-7F2F-CC17463D1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128F0F-6F15-F964-E6A7-C1F393279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BBAECB-AC93-C8CE-EB68-52ECCB0D4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21BDD8-67F2-4E5F-83E5-8BE865126785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746494-80E6-3887-7D2D-560C74587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87B632-E3F1-37CC-9EC4-5ED9F0D84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05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67F354-0B21-168F-5F90-3ADAFFCC96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                                                      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15933-E7E1-78D8-10FC-AF5CBF72BCE1}"/>
              </a:ext>
            </a:extLst>
          </p:cNvPr>
          <p:cNvSpPr txBox="1"/>
          <p:nvPr/>
        </p:nvSpPr>
        <p:spPr>
          <a:xfrm>
            <a:off x="2585884" y="2446932"/>
            <a:ext cx="7197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Методы оптимизации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B97D2-B3B8-1BD5-3883-2EEED93E62BD}"/>
              </a:ext>
            </a:extLst>
          </p:cNvPr>
          <p:cNvSpPr txBox="1"/>
          <p:nvPr/>
        </p:nvSpPr>
        <p:spPr>
          <a:xfrm>
            <a:off x="2350524" y="3093263"/>
            <a:ext cx="74909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Лекция 9</a:t>
            </a:r>
          </a:p>
          <a:p>
            <a:pPr algn="ctr"/>
            <a:r>
              <a:rPr lang="ru-RU" sz="2800" dirty="0"/>
              <a:t>Задачи линейного программирования</a:t>
            </a:r>
          </a:p>
          <a:p>
            <a:pPr algn="ctr"/>
            <a:r>
              <a:rPr lang="ru-RU" sz="2800" dirty="0"/>
              <a:t>Транспортная задача</a:t>
            </a:r>
          </a:p>
        </p:txBody>
      </p:sp>
    </p:spTree>
    <p:extLst>
      <p:ext uri="{BB962C8B-B14F-4D97-AF65-F5344CB8AC3E}">
        <p14:creationId xmlns:p14="http://schemas.microsoft.com/office/powerpoint/2010/main" val="1144961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Постановка транспортной задачи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/>
              <p:nvPr/>
            </p:nvSpPr>
            <p:spPr>
              <a:xfrm>
                <a:off x="127819" y="728397"/>
                <a:ext cx="11936362" cy="5813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400" dirty="0"/>
                  <a:t>пункты отправления;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400" dirty="0"/>
                  <a:t>запасы товара (одного и того же везде) для каждого пункта отправления;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400" dirty="0"/>
                  <a:t> потребители;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400" dirty="0"/>
                  <a:t> количество требуемого товара каждому потребителю;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стоимость перевозки единицы груза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пункта отправления 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400" dirty="0"/>
                  <a:t> пункт назначения;</a:t>
                </a:r>
                <a:endParaRPr lang="en-US" sz="24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количество отправляемого груза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пункта отправления 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400" dirty="0"/>
                  <a:t> пункт назначения;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</m:e>
                    </m:func>
                  </m:oMath>
                </a14:m>
                <a:r>
                  <a:rPr lang="ru-RU" sz="2400" dirty="0"/>
                  <a:t>целевая функция;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+…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400" dirty="0"/>
                  <a:t>ограничение на запасы, с каждого пункта отправления груз должен быть вывезен полностью;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+…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400" dirty="0"/>
                  <a:t>ограничение на спрос, потребитель должен получить ровно столько, сколько ему требуется;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0, 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400" dirty="0"/>
                  <a:t> ограничение на неотрицательность количества груза.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19" y="728397"/>
                <a:ext cx="11936362" cy="5813771"/>
              </a:xfrm>
              <a:prstGeom prst="rect">
                <a:avLst/>
              </a:prstGeom>
              <a:blipFill>
                <a:blip r:embed="rId2"/>
                <a:stretch>
                  <a:fillRect l="-715" t="-839" r="-766" b="-10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140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Постановка транспортной задачи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id="{CC88154D-2982-6690-3242-93A5192F1C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808097"/>
                  </p:ext>
                </p:extLst>
              </p:nvPr>
            </p:nvGraphicFramePr>
            <p:xfrm>
              <a:off x="1374875" y="1809146"/>
              <a:ext cx="9304596" cy="333356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29754">
                      <a:extLst>
                        <a:ext uri="{9D8B030D-6E8A-4147-A177-3AD203B41FA5}">
                          <a16:colId xmlns:a16="http://schemas.microsoft.com/office/drawing/2014/main" val="1161899917"/>
                        </a:ext>
                      </a:extLst>
                    </a:gridCol>
                    <a:gridCol w="1383681">
                      <a:extLst>
                        <a:ext uri="{9D8B030D-6E8A-4147-A177-3AD203B41FA5}">
                          <a16:colId xmlns:a16="http://schemas.microsoft.com/office/drawing/2014/main" val="3176147907"/>
                        </a:ext>
                      </a:extLst>
                    </a:gridCol>
                    <a:gridCol w="1425677">
                      <a:extLst>
                        <a:ext uri="{9D8B030D-6E8A-4147-A177-3AD203B41FA5}">
                          <a16:colId xmlns:a16="http://schemas.microsoft.com/office/drawing/2014/main" val="857896654"/>
                        </a:ext>
                      </a:extLst>
                    </a:gridCol>
                    <a:gridCol w="1363952">
                      <a:extLst>
                        <a:ext uri="{9D8B030D-6E8A-4147-A177-3AD203B41FA5}">
                          <a16:colId xmlns:a16="http://schemas.microsoft.com/office/drawing/2014/main" val="2774579577"/>
                        </a:ext>
                      </a:extLst>
                    </a:gridCol>
                    <a:gridCol w="1550766">
                      <a:extLst>
                        <a:ext uri="{9D8B030D-6E8A-4147-A177-3AD203B41FA5}">
                          <a16:colId xmlns:a16="http://schemas.microsoft.com/office/drawing/2014/main" val="3559623932"/>
                        </a:ext>
                      </a:extLst>
                    </a:gridCol>
                    <a:gridCol w="1550766">
                      <a:extLst>
                        <a:ext uri="{9D8B030D-6E8A-4147-A177-3AD203B41FA5}">
                          <a16:colId xmlns:a16="http://schemas.microsoft.com/office/drawing/2014/main" val="2013429067"/>
                        </a:ext>
                      </a:extLst>
                    </a:gridCol>
                  </a:tblGrid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Пункты отправления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Пункты назначения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Запасы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78463817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572812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ru-RU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sup>
                                </m:sSubSup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ru-RU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sup>
                                </m:sSubSup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ru-RU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sup>
                                </m:sSubSup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3276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ru-RU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sup>
                                </m:sSubSup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ru-RU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sup>
                                </m:sSubSup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ru-RU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sup>
                                </m:sSubSup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767776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05575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ru-RU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bSup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ru-RU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bSup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ru-RU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𝑚𝑛</m:t>
                                        </m:r>
                                      </m:sub>
                                    </m:sSub>
                                  </m:sup>
                                </m:sSubSup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2094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Потребности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a=(&lt;,&gt;)b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31426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id="{CC88154D-2982-6690-3242-93A5192F1C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808097"/>
                  </p:ext>
                </p:extLst>
              </p:nvPr>
            </p:nvGraphicFramePr>
            <p:xfrm>
              <a:off x="1374875" y="1809146"/>
              <a:ext cx="9304596" cy="333356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29754">
                      <a:extLst>
                        <a:ext uri="{9D8B030D-6E8A-4147-A177-3AD203B41FA5}">
                          <a16:colId xmlns:a16="http://schemas.microsoft.com/office/drawing/2014/main" val="1161899917"/>
                        </a:ext>
                      </a:extLst>
                    </a:gridCol>
                    <a:gridCol w="1383681">
                      <a:extLst>
                        <a:ext uri="{9D8B030D-6E8A-4147-A177-3AD203B41FA5}">
                          <a16:colId xmlns:a16="http://schemas.microsoft.com/office/drawing/2014/main" val="3176147907"/>
                        </a:ext>
                      </a:extLst>
                    </a:gridCol>
                    <a:gridCol w="1425677">
                      <a:extLst>
                        <a:ext uri="{9D8B030D-6E8A-4147-A177-3AD203B41FA5}">
                          <a16:colId xmlns:a16="http://schemas.microsoft.com/office/drawing/2014/main" val="857896654"/>
                        </a:ext>
                      </a:extLst>
                    </a:gridCol>
                    <a:gridCol w="1363952">
                      <a:extLst>
                        <a:ext uri="{9D8B030D-6E8A-4147-A177-3AD203B41FA5}">
                          <a16:colId xmlns:a16="http://schemas.microsoft.com/office/drawing/2014/main" val="2774579577"/>
                        </a:ext>
                      </a:extLst>
                    </a:gridCol>
                    <a:gridCol w="1550766">
                      <a:extLst>
                        <a:ext uri="{9D8B030D-6E8A-4147-A177-3AD203B41FA5}">
                          <a16:colId xmlns:a16="http://schemas.microsoft.com/office/drawing/2014/main" val="3559623932"/>
                        </a:ext>
                      </a:extLst>
                    </a:gridCol>
                    <a:gridCol w="1550766">
                      <a:extLst>
                        <a:ext uri="{9D8B030D-6E8A-4147-A177-3AD203B41FA5}">
                          <a16:colId xmlns:a16="http://schemas.microsoft.com/office/drawing/2014/main" val="2013429067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Пункты отправления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Пункты назначения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Запасы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78463817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7137" t="-109333" r="-426872" b="-56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9744" t="-109333" r="-314103" b="-56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608" t="-109333" r="-100392" b="-561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57281206"/>
                      </a:ext>
                    </a:extLst>
                  </a:tr>
                  <a:tr h="50133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" t="-189157" r="-359159" b="-40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>
                          <a:blip r:embed="rId2"/>
                          <a:stretch>
                            <a:fillRect l="-147137" t="-189157" r="-426872" b="-40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9744" t="-189157" r="-314103" b="-40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608" t="-189157" r="-100392" b="-40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575" t="-189157" r="-787" b="-4072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3276492"/>
                      </a:ext>
                    </a:extLst>
                  </a:tr>
                  <a:tr h="50171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" t="-292683" r="-359159" b="-3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7137" t="-292683" r="-426872" b="-3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9744" t="-292683" r="-314103" b="-3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608" t="-292683" r="-100392" b="-3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575" t="-292683" r="-787" b="-3121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67776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05575342"/>
                      </a:ext>
                    </a:extLst>
                  </a:tr>
                  <a:tr h="50171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" t="-478313" r="-359159" b="-118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7137" t="-478313" r="-426872" b="-118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9744" t="-478313" r="-314103" b="-118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608" t="-478313" r="-100392" b="-118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575" t="-478313" r="-787" b="-118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094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Потребности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7137" t="-640000" r="-426872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9744" t="-640000" r="-314103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608" t="-640000" r="-100392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a=(&lt;,&gt;)b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3142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88428C-147C-2CCA-442C-61CD67E047D3}"/>
                  </a:ext>
                </a:extLst>
              </p:cNvPr>
              <p:cNvSpPr txBox="1"/>
              <p:nvPr/>
            </p:nvSpPr>
            <p:spPr>
              <a:xfrm>
                <a:off x="1111045" y="5594555"/>
                <a:ext cx="100485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dirty="0"/>
                  <a:t>общее количество запасов;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dirty="0"/>
                  <a:t>общее количество потребностей.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88428C-147C-2CCA-442C-61CD67E04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045" y="5594555"/>
                <a:ext cx="10048568" cy="646331"/>
              </a:xfrm>
              <a:prstGeom prst="rect">
                <a:avLst/>
              </a:prstGeom>
              <a:blipFill>
                <a:blip r:embed="rId3"/>
                <a:stretch>
                  <a:fillRect l="-364" t="-4717" b="-150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924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Шаг 1 – баланс или нет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282568-7F76-DF26-777D-9D6E99EB38D1}"/>
                  </a:ext>
                </a:extLst>
              </p:cNvPr>
              <p:cNvSpPr txBox="1"/>
              <p:nvPr/>
            </p:nvSpPr>
            <p:spPr>
              <a:xfrm>
                <a:off x="658761" y="1140542"/>
                <a:ext cx="11139948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Если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b="1" i="1" dirty="0"/>
                  <a:t>задача закрытой модели </a:t>
                </a:r>
                <a:r>
                  <a:rPr lang="ru-RU" sz="2400" dirty="0"/>
                  <a:t>или </a:t>
                </a:r>
                <a:r>
                  <a:rPr lang="ru-RU" sz="2400" b="1" i="1" dirty="0"/>
                  <a:t>модели, удовлетворяющей условию баланса</a:t>
                </a:r>
                <a:r>
                  <a:rPr lang="ru-RU" sz="2400" dirty="0"/>
                  <a:t>, т. е. суммарный объём груза у поставщиков равен суммарному спросу потребителей.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Если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b="1" i="1" dirty="0"/>
                  <a:t>задача открытой модели </a:t>
                </a:r>
                <a:r>
                  <a:rPr lang="ru-RU" sz="2400" dirty="0"/>
                  <a:t>или </a:t>
                </a:r>
                <a:r>
                  <a:rPr lang="ru-RU" sz="2400" b="1" i="1" dirty="0"/>
                  <a:t>модели с нарушенным балансом</a:t>
                </a:r>
                <a:r>
                  <a:rPr lang="ru-RU" sz="2400" dirty="0"/>
                  <a:t>: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400" b="1" i="1" dirty="0"/>
                  <a:t>Транспортная задача с избытком</a:t>
                </a:r>
                <a:r>
                  <a:rPr lang="ru-RU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суммарные запасы груза у поставщиков превышает суммарный спрос потребителей, требуется добавление фиктивного потребителя со спросом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 нулевыми стоимостями перевозки;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400" b="1" i="1" dirty="0"/>
                  <a:t>Транспортная задача с недостатком</a:t>
                </a:r>
                <a:r>
                  <a:rPr lang="ru-RU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суммарные запасы груза у поставщиков меньше суммарного спроса потребителей, требуется добавление фиктивного поставщика с запасом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 нулевыми стоимостями перевозки.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282568-7F76-DF26-777D-9D6E99EB3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61" y="1140542"/>
                <a:ext cx="11139948" cy="4893647"/>
              </a:xfrm>
              <a:prstGeom prst="rect">
                <a:avLst/>
              </a:prstGeom>
              <a:blipFill>
                <a:blip r:embed="rId2"/>
                <a:stretch>
                  <a:fillRect l="-712" t="-996" r="-876" b="-18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114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Шаг 2 – составление начального опорного плана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282568-7F76-DF26-777D-9D6E99EB38D1}"/>
                  </a:ext>
                </a:extLst>
              </p:cNvPr>
              <p:cNvSpPr txBox="1"/>
              <p:nvPr/>
            </p:nvSpPr>
            <p:spPr>
              <a:xfrm>
                <a:off x="457199" y="816077"/>
                <a:ext cx="11139948" cy="5292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b="1" dirty="0"/>
                  <a:t>Способ 1. </a:t>
                </a:r>
                <a:r>
                  <a:rPr lang="ru-RU" sz="2400" dirty="0"/>
                  <a:t>Метод северо-западного угла.</a:t>
                </a:r>
              </a:p>
              <a:p>
                <a:pPr algn="just"/>
                <a:r>
                  <a:rPr lang="ru-RU" sz="2400" dirty="0"/>
                  <a:t>Начинается заполнение таблицы с первой строки и её первой ячейки («северо-западного угла») до исчерпания запаса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. </a:t>
                </a:r>
                <a:r>
                  <a:rPr lang="ru-RU" sz="2400" dirty="0"/>
                  <a:t>Далее заполняется вторая строка, начиная со столбца, на котором закончилось заполнение предыдущей строки и т. д. до полного исчерпания ресурсов.</a:t>
                </a:r>
              </a:p>
              <a:p>
                <a:pPr algn="just"/>
                <a:r>
                  <a:rPr lang="ru-RU" sz="2400" b="1" dirty="0"/>
                  <a:t>Способ 2. </a:t>
                </a:r>
                <a:r>
                  <a:rPr lang="ru-RU" sz="2400" dirty="0"/>
                  <a:t>Метод минимальной стоимости.</a:t>
                </a:r>
              </a:p>
              <a:p>
                <a:pPr algn="just"/>
                <a:r>
                  <a:rPr lang="ru-RU" sz="2400" dirty="0"/>
                  <a:t>Из всей таблицы стоимостей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u-RU" sz="2400" dirty="0"/>
                  <a:t> выбирают наименьшую, в клетку с ней помещают меньше из спроса или запаса для этой ячейки. Затем из рассмотрения исключают строку с исчерпанным запасом или столбец с выполненным спросом, из оставшейся таблицы ищут следующую минимальную стоимость и т. д. до полного исчерпания ресурсов.</a:t>
                </a:r>
              </a:p>
              <a:p>
                <a:pPr algn="just"/>
                <a:endParaRPr lang="ru-RU" sz="2400" dirty="0"/>
              </a:p>
              <a:p>
                <a:pPr algn="just"/>
                <a:r>
                  <a:rPr lang="ru-RU" sz="2400" dirty="0"/>
                  <a:t>Заполненные клетки = базисные переменные,</a:t>
                </a:r>
              </a:p>
              <a:p>
                <a:pPr algn="just"/>
                <a:r>
                  <a:rPr lang="ru-RU" sz="2400" dirty="0"/>
                  <a:t>Незаполненные клетки = небазисные переменные.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282568-7F76-DF26-777D-9D6E99EB3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816077"/>
                <a:ext cx="11139948" cy="5292731"/>
              </a:xfrm>
              <a:prstGeom prst="rect">
                <a:avLst/>
              </a:prstGeom>
              <a:blipFill>
                <a:blip r:embed="rId2"/>
                <a:stretch>
                  <a:fillRect l="-821" t="-922" r="-821" b="-17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344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Слайд под тест-драйвы</a:t>
            </a:r>
            <a:endParaRPr lang="ru-RU" sz="3600" b="1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CC66168A-1584-07AA-AA13-23D366462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62159"/>
              </p:ext>
            </p:extLst>
          </p:nvPr>
        </p:nvGraphicFramePr>
        <p:xfrm>
          <a:off x="2219085" y="2057400"/>
          <a:ext cx="7753830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9754">
                  <a:extLst>
                    <a:ext uri="{9D8B030D-6E8A-4147-A177-3AD203B41FA5}">
                      <a16:colId xmlns:a16="http://schemas.microsoft.com/office/drawing/2014/main" val="1161899917"/>
                    </a:ext>
                  </a:extLst>
                </a:gridCol>
                <a:gridCol w="1423010">
                  <a:extLst>
                    <a:ext uri="{9D8B030D-6E8A-4147-A177-3AD203B41FA5}">
                      <a16:colId xmlns:a16="http://schemas.microsoft.com/office/drawing/2014/main" val="3176147907"/>
                    </a:ext>
                  </a:extLst>
                </a:gridCol>
                <a:gridCol w="1465006">
                  <a:extLst>
                    <a:ext uri="{9D8B030D-6E8A-4147-A177-3AD203B41FA5}">
                      <a16:colId xmlns:a16="http://schemas.microsoft.com/office/drawing/2014/main" val="857896654"/>
                    </a:ext>
                  </a:extLst>
                </a:gridCol>
                <a:gridCol w="1494503">
                  <a:extLst>
                    <a:ext uri="{9D8B030D-6E8A-4147-A177-3AD203B41FA5}">
                      <a16:colId xmlns:a16="http://schemas.microsoft.com/office/drawing/2014/main" val="2774579577"/>
                    </a:ext>
                  </a:extLst>
                </a:gridCol>
                <a:gridCol w="1341557">
                  <a:extLst>
                    <a:ext uri="{9D8B030D-6E8A-4147-A177-3AD203B41FA5}">
                      <a16:colId xmlns:a16="http://schemas.microsoft.com/office/drawing/2014/main" val="3559623932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Запасы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Потребности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4638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281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3276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77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575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09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899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Шаг 3 – проверка вырожденности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282568-7F76-DF26-777D-9D6E99EB38D1}"/>
                  </a:ext>
                </a:extLst>
              </p:cNvPr>
              <p:cNvSpPr txBox="1"/>
              <p:nvPr/>
            </p:nvSpPr>
            <p:spPr>
              <a:xfrm>
                <a:off x="457199" y="816077"/>
                <a:ext cx="11139948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	Для работы метода решения транспортной задачи необходимо, чтобы базисных переменных было ровно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−1.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В этом случае план является </a:t>
                </a:r>
                <a:r>
                  <a:rPr lang="ru-RU" sz="2400" b="1" i="1" dirty="0"/>
                  <a:t>невырожденным</a:t>
                </a:r>
                <a:r>
                  <a:rPr lang="ru-RU" sz="2400" dirty="0"/>
                  <a:t>, в ином случае (базисных переменных меньше) план является </a:t>
                </a:r>
                <a:r>
                  <a:rPr lang="ru-RU" sz="2400" b="1" i="1" dirty="0"/>
                  <a:t>вырожденным</a:t>
                </a:r>
                <a:r>
                  <a:rPr lang="ru-RU" sz="2400" dirty="0"/>
                  <a:t>.</a:t>
                </a:r>
              </a:p>
              <a:p>
                <a:pPr algn="just"/>
                <a:r>
                  <a:rPr lang="ru-RU" sz="2400" dirty="0"/>
                  <a:t>	Если план вырожденный, необходимо выбрать пустую ячейку и записать в неё искусственную базисную переменную, равную 0.</a:t>
                </a:r>
              </a:p>
              <a:p>
                <a:pPr algn="just"/>
                <a:r>
                  <a:rPr lang="ru-RU" sz="2400" dirty="0"/>
                  <a:t>	Выбирается ячейка так, чтобы не создать </a:t>
                </a:r>
                <a:r>
                  <a:rPr lang="ru-RU" sz="2400" b="1" i="1" dirty="0"/>
                  <a:t>цикл </a:t>
                </a:r>
                <a:r>
                  <a:rPr lang="ru-RU" sz="2400" dirty="0"/>
                  <a:t>(будет объяснено дальше) с уже имеющимися базисными переменными.</a:t>
                </a:r>
              </a:p>
              <a:p>
                <a:pPr algn="just"/>
                <a:r>
                  <a:rPr lang="ru-RU" sz="2400" dirty="0"/>
                  <a:t>	Если получен вырожденный план на этапе составления начального опорного плана, можно воспользоваться другим методом. Если начальный план вырождается при использовании обоих методов, тогда уже прибегаем к искусственному нулю.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282568-7F76-DF26-777D-9D6E99EB3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816077"/>
                <a:ext cx="11139948" cy="4524315"/>
              </a:xfrm>
              <a:prstGeom prst="rect">
                <a:avLst/>
              </a:prstGeom>
              <a:blipFill>
                <a:blip r:embed="rId2"/>
                <a:stretch>
                  <a:fillRect l="-821" t="-1078" r="-821" b="-21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2670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Шаг 4 – метод потенциалов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282568-7F76-DF26-777D-9D6E99EB38D1}"/>
                  </a:ext>
                </a:extLst>
              </p:cNvPr>
              <p:cNvSpPr txBox="1"/>
              <p:nvPr/>
            </p:nvSpPr>
            <p:spPr>
              <a:xfrm>
                <a:off x="457199" y="816077"/>
                <a:ext cx="11139948" cy="5761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	В таблице получено разделение ячеек на заполненные и незаполненные, т.е. переменные поделились на базисные и небазисные (свободные).</a:t>
                </a:r>
              </a:p>
              <a:p>
                <a:pPr algn="just"/>
                <a:r>
                  <a:rPr lang="ru-RU" sz="2400" dirty="0"/>
                  <a:t>	На каждой итерации целевая функция стоимости перевозок выражается через свободные переменные следующим образом: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sz="2400" dirty="0"/>
                  <a:t>,</a:t>
                </a:r>
              </a:p>
              <a:p>
                <a:pPr algn="just"/>
                <a:r>
                  <a:rPr lang="ru-RU" sz="2400" dirty="0"/>
                  <a:t>где </a:t>
                </a:r>
                <a:r>
                  <a:rPr lang="en-US" sz="2400" i="1" dirty="0"/>
                  <a:t>t </a:t>
                </a:r>
                <a:r>
                  <a:rPr lang="ru-RU" sz="2400" i="1" dirty="0"/>
                  <a:t>– </a:t>
                </a:r>
                <a:r>
                  <a:rPr lang="ru-RU" sz="2400" dirty="0"/>
                  <a:t>номер итерации (</a:t>
                </a:r>
                <a:r>
                  <a:rPr lang="en-US" sz="2400" i="1" dirty="0"/>
                  <a:t>t </a:t>
                </a:r>
                <a:r>
                  <a:rPr lang="en-US" sz="2400" dirty="0"/>
                  <a:t>= 0,1,…).</a:t>
                </a:r>
                <a:endParaRPr lang="ru-RU" sz="2400" dirty="0"/>
              </a:p>
              <a:p>
                <a:pPr algn="just"/>
                <a:r>
                  <a:rPr lang="ru-RU" sz="2400" dirty="0"/>
                  <a:t>	Для нахождения коэффициентов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u-RU" sz="2400" dirty="0"/>
                  <a:t>каждому пункту отправления ставится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</m:d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ru-RU" sz="2400" dirty="0"/>
                  <a:t>потенциал пункта отправления,</a:t>
                </a:r>
                <a:r>
                  <a:rPr lang="en-US" sz="2400" dirty="0"/>
                  <a:t> </a:t>
                </a:r>
                <a:r>
                  <a:rPr lang="ru-RU" sz="2400" dirty="0"/>
                  <a:t>и каждому пункту назначения ставится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u-RU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</m:d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потенциал пункта назначения.</a:t>
                </a:r>
              </a:p>
              <a:p>
                <a:pPr algn="just"/>
                <a:r>
                  <a:rPr lang="ru-RU" sz="2400" dirty="0"/>
                  <a:t>	Для каждой заполненной клетки составляется уравнение:</a:t>
                </a:r>
              </a:p>
              <a:p>
                <a:pPr algn="ctr"/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0" dirty="0"/>
              </a:p>
              <a:p>
                <a:pPr algn="just"/>
                <a:r>
                  <a:rPr lang="ru-RU" sz="2400" dirty="0"/>
                  <a:t>	Решается система этих уравнений (при этом один потенциал выбирается произвольно), находятся все потенциалы.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282568-7F76-DF26-777D-9D6E99EB3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816077"/>
                <a:ext cx="11139948" cy="5761385"/>
              </a:xfrm>
              <a:prstGeom prst="rect">
                <a:avLst/>
              </a:prstGeom>
              <a:blipFill>
                <a:blip r:embed="rId2"/>
                <a:stretch>
                  <a:fillRect l="-821" t="-847" r="-821" b="-14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645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72845" y="5640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Шаг 4 – метод потенциалов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282568-7F76-DF26-777D-9D6E99EB38D1}"/>
                  </a:ext>
                </a:extLst>
              </p:cNvPr>
              <p:cNvSpPr txBox="1"/>
              <p:nvPr/>
            </p:nvSpPr>
            <p:spPr>
              <a:xfrm>
                <a:off x="0" y="579627"/>
                <a:ext cx="12088763" cy="64271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	Для каждой свободной клетки находятся относительные оценки: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  <a:p>
                <a:pPr algn="just"/>
                <a:r>
                  <a:rPr lang="en-US" sz="2400" dirty="0"/>
                  <a:t>	</a:t>
                </a:r>
                <a:r>
                  <a:rPr lang="ru-RU" sz="2400" dirty="0"/>
                  <a:t>Если все </a:t>
                </a:r>
                <a:r>
                  <a:rPr lang="ru-RU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∆ </a:t>
                </a:r>
                <a:r>
                  <a:rPr lang="ru-RU" sz="2400" dirty="0">
                    <a:ea typeface="Cambria Math" panose="02040503050406030204" pitchFamily="18" charset="0"/>
                  </a:rPr>
                  <a:t>неотрицательны, то план оптимален.</a:t>
                </a:r>
              </a:p>
              <a:p>
                <a:pPr algn="just"/>
                <a:r>
                  <a:rPr lang="ru-RU" sz="2400" dirty="0">
                    <a:ea typeface="Cambria Math" panose="02040503050406030204" pitchFamily="18" charset="0"/>
                  </a:rPr>
                  <a:t>	Если есть отрицательные оценки </a:t>
                </a:r>
                <a:r>
                  <a:rPr lang="ru-RU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∆</a:t>
                </a:r>
                <a:r>
                  <a:rPr lang="ru-RU" sz="2400" dirty="0">
                    <a:ea typeface="Cambria Math" panose="02040503050406030204" pitchFamily="18" charset="0"/>
                  </a:rPr>
                  <a:t>, то значение целевой функции может быть уменьшено путём перехода к новому базису. Для этого среди отрицательных оценок выбирают минимальную. Клетку, которой она соответствует, следует заполнить, обозначаем её</a:t>
                </a:r>
                <a:r>
                  <a:rPr lang="el-GR" sz="2400" b="1" i="0" dirty="0">
                    <a:solidFill>
                      <a:srgbClr val="333333"/>
                    </a:solidFill>
                    <a:effectLst/>
                    <a:latin typeface="-apple-system"/>
                  </a:rPr>
                  <a:t> λ</a:t>
                </a:r>
                <a:r>
                  <a:rPr lang="ru-RU" sz="2400" i="0" dirty="0">
                    <a:solidFill>
                      <a:srgbClr val="333333"/>
                    </a:solidFill>
                    <a:effectLst/>
                    <a:latin typeface="-apple-system"/>
                  </a:rPr>
                  <a:t>.</a:t>
                </a:r>
              </a:p>
              <a:p>
                <a:pPr algn="just"/>
                <a:r>
                  <a:rPr lang="ru-RU" sz="2400" dirty="0">
                    <a:ea typeface="Cambria Math" panose="02040503050406030204" pitchFamily="18" charset="0"/>
                  </a:rPr>
                  <a:t>	</a:t>
                </a:r>
                <a:r>
                  <a:rPr lang="ru-RU" sz="2400" b="1" i="1" dirty="0">
                    <a:ea typeface="Cambria Math" panose="02040503050406030204" pitchFamily="18" charset="0"/>
                  </a:rPr>
                  <a:t>Циклом </a:t>
                </a:r>
                <a:r>
                  <a:rPr lang="ru-RU" sz="2400" dirty="0">
                    <a:ea typeface="Cambria Math" panose="02040503050406030204" pitchFamily="18" charset="0"/>
                  </a:rPr>
                  <a:t>в таблице транспортной задачи называется ломаная линия, вершины которой расположены в занятых клетках таблицы, а </a:t>
                </a:r>
                <a:r>
                  <a:rPr lang="ru-RU" sz="2400" b="1" i="1" dirty="0">
                    <a:ea typeface="Cambria Math" panose="02040503050406030204" pitchFamily="18" charset="0"/>
                  </a:rPr>
                  <a:t>звенья</a:t>
                </a:r>
                <a:r>
                  <a:rPr lang="ru-RU" sz="2400" dirty="0">
                    <a:ea typeface="Cambria Math" panose="02040503050406030204" pitchFamily="18" charset="0"/>
                  </a:rPr>
                  <a:t> – вдоль строк и столбцов, при чём в каждой вершине встречается ровно два звена.</a:t>
                </a:r>
              </a:p>
              <a:p>
                <a:pPr algn="just"/>
                <a:r>
                  <a:rPr lang="ru-RU" sz="2400" dirty="0">
                    <a:ea typeface="Cambria Math" panose="02040503050406030204" pitchFamily="18" charset="0"/>
                  </a:rPr>
                  <a:t>	С клеткой</a:t>
                </a:r>
                <a:r>
                  <a:rPr lang="el-GR" sz="2400" b="1" i="0" dirty="0">
                    <a:solidFill>
                      <a:srgbClr val="333333"/>
                    </a:solidFill>
                    <a:effectLst/>
                    <a:latin typeface="-apple-system"/>
                  </a:rPr>
                  <a:t> λ </a:t>
                </a:r>
                <a:r>
                  <a:rPr lang="ru-RU" sz="2400" dirty="0">
                    <a:ea typeface="Cambria Math" panose="02040503050406030204" pitchFamily="18" charset="0"/>
                  </a:rPr>
                  <a:t>ищем цикл в таблице. Далее каждой вершине цикла необходимо присвоить знак «+» или «-» – увеличиваем поставку или уменьшаем. Для </a:t>
                </a:r>
                <a:r>
                  <a:rPr lang="el-GR" sz="2400" b="1" i="0" dirty="0">
                    <a:solidFill>
                      <a:srgbClr val="333333"/>
                    </a:solidFill>
                    <a:effectLst/>
                  </a:rPr>
                  <a:t>λ</a:t>
                </a:r>
                <a:r>
                  <a:rPr lang="ru-RU" sz="2400" b="1" i="0" dirty="0">
                    <a:solidFill>
                      <a:srgbClr val="333333"/>
                    </a:solidFill>
                    <a:effectLst/>
                  </a:rPr>
                  <a:t> </a:t>
                </a:r>
                <a:r>
                  <a:rPr lang="ru-RU" sz="2400" i="0" dirty="0">
                    <a:solidFill>
                      <a:srgbClr val="333333"/>
                    </a:solidFill>
                    <a:effectLst/>
                  </a:rPr>
                  <a:t>это будет знак «+», далее по направлению цикла знаки на вершинах чередуются.</a:t>
                </a:r>
              </a:p>
              <a:p>
                <a:pPr algn="just"/>
                <a:r>
                  <a:rPr lang="ru-RU" sz="2400" dirty="0">
                    <a:solidFill>
                      <a:srgbClr val="333333"/>
                    </a:solidFill>
                    <a:ea typeface="Cambria Math" panose="02040503050406030204" pitchFamily="18" charset="0"/>
                  </a:rPr>
                  <a:t>	Поставки изменяются следующим образом – из клеток «-» выбирается минимальное значение, далее оно прибавляется к клеткам «+» и вычитается из клеток «-». Далее проверяется вырожденность и повторяется метод потенциалов при необходимости.</a:t>
                </a:r>
                <a:endParaRPr lang="ru-RU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282568-7F76-DF26-777D-9D6E99EB3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9627"/>
                <a:ext cx="12088763" cy="6427144"/>
              </a:xfrm>
              <a:prstGeom prst="rect">
                <a:avLst/>
              </a:prstGeom>
              <a:blipFill>
                <a:blip r:embed="rId2"/>
                <a:stretch>
                  <a:fillRect l="-756" t="-759" r="-756" b="-12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5555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72845" y="5640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Задачи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22FCCC99-32CB-1505-CC5F-ADE15891D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871508"/>
              </p:ext>
            </p:extLst>
          </p:nvPr>
        </p:nvGraphicFramePr>
        <p:xfrm>
          <a:off x="1737304" y="759542"/>
          <a:ext cx="8399754" cy="29668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8840">
                  <a:extLst>
                    <a:ext uri="{9D8B030D-6E8A-4147-A177-3AD203B41FA5}">
                      <a16:colId xmlns:a16="http://schemas.microsoft.com/office/drawing/2014/main" val="1161899917"/>
                    </a:ext>
                  </a:extLst>
                </a:gridCol>
                <a:gridCol w="1541552">
                  <a:extLst>
                    <a:ext uri="{9D8B030D-6E8A-4147-A177-3AD203B41FA5}">
                      <a16:colId xmlns:a16="http://schemas.microsoft.com/office/drawing/2014/main" val="3176147907"/>
                    </a:ext>
                  </a:extLst>
                </a:gridCol>
                <a:gridCol w="1587047">
                  <a:extLst>
                    <a:ext uri="{9D8B030D-6E8A-4147-A177-3AD203B41FA5}">
                      <a16:colId xmlns:a16="http://schemas.microsoft.com/office/drawing/2014/main" val="857896654"/>
                    </a:ext>
                  </a:extLst>
                </a:gridCol>
                <a:gridCol w="1619001">
                  <a:extLst>
                    <a:ext uri="{9D8B030D-6E8A-4147-A177-3AD203B41FA5}">
                      <a16:colId xmlns:a16="http://schemas.microsoft.com/office/drawing/2014/main" val="2774579577"/>
                    </a:ext>
                  </a:extLst>
                </a:gridCol>
                <a:gridCol w="1453314">
                  <a:extLst>
                    <a:ext uri="{9D8B030D-6E8A-4147-A177-3AD203B41FA5}">
                      <a16:colId xmlns:a16="http://schemas.microsoft.com/office/drawing/2014/main" val="3559623932"/>
                    </a:ext>
                  </a:extLst>
                </a:gridCol>
              </a:tblGrid>
              <a:tr h="494481">
                <a:tc rowSpan="2"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Запасы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Потребности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463817"/>
                  </a:ext>
                </a:extLst>
              </a:tr>
              <a:tr h="49448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281206"/>
                  </a:ext>
                </a:extLst>
              </a:tr>
              <a:tr h="494481">
                <a:tc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3276492"/>
                  </a:ext>
                </a:extLst>
              </a:tr>
              <a:tr h="494481">
                <a:tc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777677"/>
                  </a:ext>
                </a:extLst>
              </a:tr>
              <a:tr h="494481">
                <a:tc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575342"/>
                  </a:ext>
                </a:extLst>
              </a:tr>
              <a:tr h="494481">
                <a:tc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09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7874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935</Words>
  <Application>Microsoft Office PowerPoint</Application>
  <PresentationFormat>Широкоэкранный</PresentationFormat>
  <Paragraphs>121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-apple-system</vt:lpstr>
      <vt:lpstr>Aptos</vt:lpstr>
      <vt:lpstr>Aptos Display</vt:lpstr>
      <vt:lpstr>Arial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SecurityCode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Рябова Екатерина</dc:creator>
  <cp:lastModifiedBy>Рябова Екатерина</cp:lastModifiedBy>
  <cp:revision>21</cp:revision>
  <dcterms:created xsi:type="dcterms:W3CDTF">2025-09-03T15:43:45Z</dcterms:created>
  <dcterms:modified xsi:type="dcterms:W3CDTF">2025-12-04T08:14:48Z</dcterms:modified>
</cp:coreProperties>
</file>