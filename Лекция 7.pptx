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63" r:id="rId4"/>
    <p:sldId id="268" r:id="rId5"/>
    <p:sldId id="262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0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B19E24-CC51-40D1-B947-0D5D2E6E4FD3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B3D806-AF55-4BA7-862A-88F605DA67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03990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BECDDB-51D6-BFA9-55A7-B93C1538F1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D068767-5399-BCC9-5E41-00E66E8B48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1496729-FA90-9E94-227A-33615B132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1BDD8-67F2-4E5F-83E5-8BE865126785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8E38AF5-A13B-CEA7-8A9E-36A2FCFEA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04D2398-44ED-602B-56E8-DFAB8B705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83A08-B28E-4DF7-8355-C9F0F723B4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4698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A2D694-B912-0B02-0387-1DF6DEC2D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15F72BA-5DF4-B52B-AE46-577D5D0C51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33449CA-1B04-DD67-5923-1F8C89C43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1BDD8-67F2-4E5F-83E5-8BE865126785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14091A7-9D1C-BD8A-B8D7-B706CE928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908580-C48F-7824-C639-9B778752D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83A08-B28E-4DF7-8355-C9F0F723B4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7989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F3F90C-12B5-1C2B-EE99-9D2AFB801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987D0BE-4DA2-B04D-816A-8BABA22036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26838FA-6F3E-8E0F-A074-0746E5FCC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1BDD8-67F2-4E5F-83E5-8BE865126785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14EE0FC-3D98-89F7-2E79-1295CB918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684CD3F-B8BC-20AD-8739-ED934C196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83A08-B28E-4DF7-8355-C9F0F723B4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3358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0CABD9-103E-2FAE-713A-BDB5B3FD6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8369854-31C5-E1C3-0CA7-87A1BD25F1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08EC841-D906-0609-F1FC-31BD782C34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0C15345-86CE-3DB9-F049-108BEB562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1BDD8-67F2-4E5F-83E5-8BE865126785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63E30E3-2B80-2BE5-C8A6-51F676DF9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53E0A24-1EE9-997B-519C-60D96C738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83A08-B28E-4DF7-8355-C9F0F723B4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308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0D8D26-7A15-2A4B-EE0B-939D02FF5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9510F7B-2A5E-B8FB-003B-9EC65D1F7D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A42CBEA-58F9-2664-4006-919002A9B0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EAECD25-BCE8-49A5-877F-1884BA5EAE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82B15B9-1808-EF20-F9DD-2E7B377288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58FD988-B265-E2E5-D60B-29147118D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1BDD8-67F2-4E5F-83E5-8BE865126785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B26D928-CEF2-7898-2E52-F3CFFAB66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7CE4F3A-4830-5031-46E1-B51B9B1FE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83A08-B28E-4DF7-8355-C9F0F723B4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2275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113688-24C5-B47D-75C7-3A1085980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27A56BE-F0D7-EB2B-51BE-C5D2C50C0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1BDD8-67F2-4E5F-83E5-8BE865126785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DEAF303-2E92-4104-8756-06460285B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A1FF870-589C-9925-C72B-817607772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83A08-B28E-4DF7-8355-C9F0F723B4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5085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03B9B10-B3A8-CCE4-B034-7FAA3A7F6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1BDD8-67F2-4E5F-83E5-8BE865126785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2240013-D3A9-6BE7-F5BB-1250D7875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254E64D-E498-ED86-48E8-191E37A21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83A08-B28E-4DF7-8355-C9F0F723B4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2899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6F4C0F-EDB7-643B-CF4E-48B566541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14163E0-9E39-547D-2C74-5BF2C20FB6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F7AB78E-9CD6-6655-666A-B3811C4971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B252B21-0EE0-3EE1-89AE-80500610F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1BDD8-67F2-4E5F-83E5-8BE865126785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B71F5B8-FF9E-1955-F770-25006E7CE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0EB689B-BD67-6F46-CDDC-C1A6E892E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83A08-B28E-4DF7-8355-C9F0F723B4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5878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A0A45C-E1B1-01B0-391B-52061F6A9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625B4DE-0B84-5B4A-177D-4544BD3709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6DAF090-1543-949F-1A81-5031018DE1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356ACEC-035F-1FE3-4DDC-53118F219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1BDD8-67F2-4E5F-83E5-8BE865126785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5E074AB-C5DC-5AD6-8E4F-236D00585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49B2AD6-4E2F-B741-0213-52D6B609E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83A08-B28E-4DF7-8355-C9F0F723B4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4003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A74D59-85A7-82C1-4136-6BC930DDF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789EB6C-AC0D-66EA-22CD-DA43C830AE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490C2C0-8393-D03A-40F7-7146BFF07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1BDD8-67F2-4E5F-83E5-8BE865126785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A057178-1C5D-3F9A-FBD3-CF8DE8E8D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8A34288-D9AB-928B-358B-C684FDCB9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83A08-B28E-4DF7-8355-C9F0F723B4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0988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C4AD702-E748-3E17-B36B-1A8A9DF312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26FDD56-9023-79A7-C031-56DCC7CA6D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E6932A8-ADCC-1E7C-DAAC-8BEE1300B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1BDD8-67F2-4E5F-83E5-8BE865126785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CE7CA65-5E6E-0320-429E-AC72F1C1B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0297B34-A093-27B6-7CF7-7149D7ED8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83A08-B28E-4DF7-8355-C9F0F723B4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9548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9865F8-01D0-FC87-7F2F-CC17463D1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B128F0F-6F15-F964-E6A7-C1F393279A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2BBAECB-AC93-C8CE-EB68-52ECCB0D4C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21BDD8-67F2-4E5F-83E5-8BE865126785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4746494-80E6-3887-7D2D-560C745879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587B632-E3F1-37CC-9EC4-5ED9F0D84B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F83A08-B28E-4DF7-8355-C9F0F723B4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9054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C67F354-0B21-168F-5F90-3ADAFFCC96E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                                                                           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515933-E7E1-78D8-10FC-AF5CBF72BCE1}"/>
              </a:ext>
            </a:extLst>
          </p:cNvPr>
          <p:cNvSpPr txBox="1"/>
          <p:nvPr/>
        </p:nvSpPr>
        <p:spPr>
          <a:xfrm>
            <a:off x="2585884" y="2446932"/>
            <a:ext cx="71972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dirty="0"/>
              <a:t>Методы оптимизации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0B97D2-B3B8-1BD5-3883-2EEED93E62BD}"/>
              </a:ext>
            </a:extLst>
          </p:cNvPr>
          <p:cNvSpPr txBox="1"/>
          <p:nvPr/>
        </p:nvSpPr>
        <p:spPr>
          <a:xfrm>
            <a:off x="2350524" y="3093263"/>
            <a:ext cx="749095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/>
              <a:t>Лекция </a:t>
            </a:r>
            <a:r>
              <a:rPr lang="en-US" sz="2800" dirty="0"/>
              <a:t>7</a:t>
            </a:r>
            <a:endParaRPr lang="ru-RU" sz="2800" dirty="0"/>
          </a:p>
          <a:p>
            <a:pPr algn="ctr"/>
            <a:r>
              <a:rPr lang="ru-RU" sz="2800" dirty="0"/>
              <a:t>Задачи целочисленного программирования</a:t>
            </a:r>
          </a:p>
          <a:p>
            <a:pPr algn="ctr"/>
            <a:r>
              <a:rPr lang="ru-RU" sz="2800" dirty="0"/>
              <a:t>Метод Гомори</a:t>
            </a:r>
          </a:p>
        </p:txBody>
      </p:sp>
    </p:spTree>
    <p:extLst>
      <p:ext uri="{BB962C8B-B14F-4D97-AF65-F5344CB8AC3E}">
        <p14:creationId xmlns:p14="http://schemas.microsoft.com/office/powerpoint/2010/main" val="11449614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005CCB9-92A6-B0DD-821F-CD76F8CB7E6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BC3492-9F85-FD48-EBFF-C9364D5DDB44}"/>
              </a:ext>
            </a:extLst>
          </p:cNvPr>
          <p:cNvSpPr txBox="1"/>
          <p:nvPr/>
        </p:nvSpPr>
        <p:spPr>
          <a:xfrm>
            <a:off x="255638" y="205177"/>
            <a:ext cx="115430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Задачи целочисленного программирования</a:t>
            </a:r>
            <a:endParaRPr lang="ru-RU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43B23EE-6AEC-D039-C60A-D7447F4F4690}"/>
                  </a:ext>
                </a:extLst>
              </p:cNvPr>
              <p:cNvSpPr txBox="1"/>
              <p:nvPr/>
            </p:nvSpPr>
            <p:spPr>
              <a:xfrm>
                <a:off x="344128" y="933574"/>
                <a:ext cx="11228438" cy="41490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ru-RU" sz="2400" dirty="0"/>
                  <a:t>	В общем виде задача целочисленного линейного программирования формулируется следующим образом: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𝑒𝑥𝑡𝑟</m:t>
                      </m:r>
                    </m:oMath>
                  </m:oMathPara>
                </a14:m>
                <a:endParaRPr lang="en-US" sz="2400" dirty="0"/>
              </a:p>
              <a:p>
                <a:r>
                  <a:rPr lang="en-US" sz="2400" dirty="0"/>
                  <a:t>	</a:t>
                </a:r>
                <a:r>
                  <a:rPr lang="ru-RU" sz="2400" dirty="0"/>
                  <a:t>при ограничениях: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</m:acc>
                    </m:oMath>
                  </m:oMathPara>
                </a14:m>
                <a:endParaRPr lang="en-US" sz="24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0,              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acc>
                    </m:oMath>
                  </m:oMathPara>
                </a14:m>
                <a:endParaRPr lang="en-US" sz="24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ru-RU" sz="2400" b="0" i="1" smtClean="0">
                          <a:latin typeface="Cambria Math" panose="02040503050406030204" pitchFamily="18" charset="0"/>
                        </a:rPr>
                        <m:t>целые, 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ru-RU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acc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43B23EE-6AEC-D039-C60A-D7447F4F46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128" y="933574"/>
                <a:ext cx="11228438" cy="4149021"/>
              </a:xfrm>
              <a:prstGeom prst="rect">
                <a:avLst/>
              </a:prstGeom>
              <a:blipFill>
                <a:blip r:embed="rId2"/>
                <a:stretch>
                  <a:fillRect l="-814" t="-1175" r="-135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61406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005CCB9-92A6-B0DD-821F-CD76F8CB7E6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BC3492-9F85-FD48-EBFF-C9364D5DDB44}"/>
              </a:ext>
            </a:extLst>
          </p:cNvPr>
          <p:cNvSpPr txBox="1"/>
          <p:nvPr/>
        </p:nvSpPr>
        <p:spPr>
          <a:xfrm>
            <a:off x="255638" y="205177"/>
            <a:ext cx="115430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Метод Гомори (отсечения, отсекающих плоскостей)</a:t>
            </a:r>
            <a:endParaRPr lang="ru-RU" sz="36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43B23EE-6AEC-D039-C60A-D7447F4F4690}"/>
                  </a:ext>
                </a:extLst>
              </p:cNvPr>
              <p:cNvSpPr txBox="1"/>
              <p:nvPr/>
            </p:nvSpPr>
            <p:spPr>
              <a:xfrm>
                <a:off x="412954" y="933574"/>
                <a:ext cx="11228438" cy="56918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ru-RU" sz="2400" dirty="0"/>
                  <a:t>	Сущность метода Гомори заключается в построении дополнительных ограничений, учитывающих требования целочисленности.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ru-RU" sz="2400" dirty="0"/>
                  <a:t>Исходная задача решается симплекс-методом. Если все необходимые переменные целочисленны в полученном оптимальном плане, то решение найдено.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ru-RU" sz="2400" dirty="0"/>
                  <a:t>Если среди необходимых переменных есть нецелые, то к ограничениям задачи добавляется дополнительное ограничение. Для построения этого ограничения необходимо в оптимальной симплекс-таблице выбирать нецелую переменную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  <a:r>
                  <a:rPr lang="ru-RU" sz="2400" dirty="0"/>
                  <a:t>с максимальной дробной частью. Для этой переменной строится отсечение Гомори по следующему правилу: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ru-RU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ru-RU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ru-RU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2400" b="0" dirty="0">
                  <a:ea typeface="Cambria Math" panose="02040503050406030204" pitchFamily="18" charset="0"/>
                </a:endParaRPr>
              </a:p>
              <a:p>
                <a:r>
                  <a:rPr lang="ru-RU" sz="2400" dirty="0"/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−[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−[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/>
                  <a:t>, </a:t>
                </a:r>
              </a:p>
              <a:p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/>
                  <a:t> – </a:t>
                </a:r>
                <a:r>
                  <a:rPr lang="ru-RU" sz="2400" dirty="0"/>
                  <a:t>ближайшие меньшие целые числа. Коэффициенты выбираются из последней симплекс-таблицы.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endParaRPr lang="ru-RU" sz="24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43B23EE-6AEC-D039-C60A-D7447F4F46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954" y="933574"/>
                <a:ext cx="11228438" cy="5691815"/>
              </a:xfrm>
              <a:prstGeom prst="rect">
                <a:avLst/>
              </a:prstGeom>
              <a:blipFill>
                <a:blip r:embed="rId2"/>
                <a:stretch>
                  <a:fillRect l="-869" t="-857" r="-81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29240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005CCB9-92A6-B0DD-821F-CD76F8CB7E6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BC3492-9F85-FD48-EBFF-C9364D5DDB44}"/>
              </a:ext>
            </a:extLst>
          </p:cNvPr>
          <p:cNvSpPr txBox="1"/>
          <p:nvPr/>
        </p:nvSpPr>
        <p:spPr>
          <a:xfrm>
            <a:off x="255638" y="205177"/>
            <a:ext cx="115430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Метод Гомори (отсечения, отсекающих плоскостей)</a:t>
            </a:r>
            <a:endParaRPr lang="ru-RU" sz="36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3B23EE-6AEC-D039-C60A-D7447F4F4690}"/>
              </a:ext>
            </a:extLst>
          </p:cNvPr>
          <p:cNvSpPr txBox="1"/>
          <p:nvPr/>
        </p:nvSpPr>
        <p:spPr>
          <a:xfrm>
            <a:off x="176980" y="2828835"/>
            <a:ext cx="1122843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400" dirty="0"/>
              <a:t>Составленное ограничение добавляется в финальную симплекс-таблицу задачи дополнительной строкой. Если задача не решается, пробуем добавить ограничение в исходную задачу.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400" dirty="0"/>
              <a:t>Полученная задача решается симплекс-методом. </a:t>
            </a:r>
          </a:p>
        </p:txBody>
      </p:sp>
    </p:spTree>
    <p:extLst>
      <p:ext uri="{BB962C8B-B14F-4D97-AF65-F5344CB8AC3E}">
        <p14:creationId xmlns:p14="http://schemas.microsoft.com/office/powerpoint/2010/main" val="2133642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005CCB9-92A6-B0DD-821F-CD76F8CB7E6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BC3492-9F85-FD48-EBFF-C9364D5DDB44}"/>
              </a:ext>
            </a:extLst>
          </p:cNvPr>
          <p:cNvSpPr txBox="1"/>
          <p:nvPr/>
        </p:nvSpPr>
        <p:spPr>
          <a:xfrm>
            <a:off x="255638" y="205177"/>
            <a:ext cx="115430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Задачи</a:t>
            </a:r>
            <a:endParaRPr lang="ru-RU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76B4733-1C09-BFAB-C921-67A5C98B0B4A}"/>
                  </a:ext>
                </a:extLst>
              </p:cNvPr>
              <p:cNvSpPr txBox="1"/>
              <p:nvPr/>
            </p:nvSpPr>
            <p:spPr>
              <a:xfrm>
                <a:off x="92786" y="3373732"/>
                <a:ext cx="5966952" cy="23380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400" i="1" dirty="0"/>
                  <a:t>2</a:t>
                </a:r>
                <a:r>
                  <a:rPr lang="ru-RU" sz="2400" i="1" dirty="0"/>
                  <a:t>)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−3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−5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−6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𝑚𝑖𝑛</m:t>
                    </m:r>
                  </m:oMath>
                </a14:m>
                <a:endParaRPr lang="en-US" sz="2400" b="0" i="1" dirty="0"/>
              </a:p>
              <a:p>
                <a:pPr algn="just"/>
                <a:r>
                  <a:rPr lang="en-US" sz="2400" i="1" dirty="0"/>
                  <a:t>	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2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+5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−7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12</m:t>
                    </m:r>
                  </m:oMath>
                </a14:m>
                <a:endParaRPr lang="en-US" sz="2400" b="0" dirty="0">
                  <a:ea typeface="Cambria Math" panose="02040503050406030204" pitchFamily="18" charset="0"/>
                </a:endParaRPr>
              </a:p>
              <a:p>
                <a:pPr algn="just"/>
                <a:r>
                  <a:rPr lang="en-US" sz="2400" i="1" dirty="0"/>
                  <a:t>	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−4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+3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+8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endParaRPr lang="en-US" sz="2400" b="0" i="1" dirty="0"/>
              </a:p>
              <a:p>
                <a:pPr algn="just"/>
                <a:r>
                  <a:rPr lang="en-US" sz="2400" b="0" dirty="0"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−2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+10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≤17</m:t>
                    </m:r>
                  </m:oMath>
                </a14:m>
                <a:endParaRPr lang="en-US" sz="2400" b="0" dirty="0">
                  <a:ea typeface="Cambria Math" panose="02040503050406030204" pitchFamily="18" charset="0"/>
                </a:endParaRPr>
              </a:p>
              <a:p>
                <a:pPr algn="just"/>
                <a:r>
                  <a:rPr lang="en-US" sz="2400" i="1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endParaRPr lang="en-US" sz="2400" b="0" i="1" dirty="0">
                  <a:ea typeface="Cambria Math" panose="02040503050406030204" pitchFamily="18" charset="0"/>
                </a:endParaRPr>
              </a:p>
              <a:p>
                <a:pPr algn="just"/>
                <a:r>
                  <a:rPr lang="en-US" sz="2400" b="0" dirty="0"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ru-R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Целые − </m:t>
                    </m:r>
                    <m:sSub>
                      <m:sSubPr>
                        <m:ctrlPr>
                          <a:rPr lang="ru-R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ru-R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sz="24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76B4733-1C09-BFAB-C921-67A5C98B0B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86" y="3373732"/>
                <a:ext cx="5966952" cy="2338076"/>
              </a:xfrm>
              <a:prstGeom prst="rect">
                <a:avLst/>
              </a:prstGeom>
              <a:blipFill>
                <a:blip r:embed="rId2"/>
                <a:stretch>
                  <a:fillRect l="-1532" t="-2083" b="-156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C02DB98-61EA-C6BC-D5FB-D73827E3C625}"/>
                  </a:ext>
                </a:extLst>
              </p:cNvPr>
              <p:cNvSpPr txBox="1"/>
              <p:nvPr/>
            </p:nvSpPr>
            <p:spPr>
              <a:xfrm>
                <a:off x="92786" y="833180"/>
                <a:ext cx="8697253" cy="19687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400" i="1" dirty="0"/>
                  <a:t>1</a:t>
                </a:r>
                <a:r>
                  <a:rPr lang="ru-RU" sz="2400" i="1" dirty="0"/>
                  <a:t>)</a:t>
                </a:r>
                <a:r>
                  <a:rPr lang="en-US" sz="2400" i="1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=3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−5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3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ru-RU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−60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−480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𝑚𝑖𝑛</m:t>
                    </m:r>
                  </m:oMath>
                </a14:m>
                <a:endParaRPr lang="en-US" sz="2400" b="0" i="1" dirty="0"/>
              </a:p>
              <a:p>
                <a:pPr algn="just"/>
                <a:r>
                  <a:rPr lang="en-US" sz="2400" i="1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−9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12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+15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−1080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+180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=180.5</m:t>
                    </m:r>
                  </m:oMath>
                </a14:m>
                <a:endParaRPr lang="en-US" sz="2400" b="0" dirty="0">
                  <a:ea typeface="Cambria Math" panose="02040503050406030204" pitchFamily="18" charset="0"/>
                </a:endParaRPr>
              </a:p>
              <a:p>
                <a:pPr algn="just"/>
                <a:r>
                  <a:rPr lang="en-US" sz="2400" i="1" dirty="0"/>
                  <a:t>	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7</m:t>
                    </m:r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−17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+26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+31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−2100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+360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=420</m:t>
                    </m:r>
                  </m:oMath>
                </a14:m>
                <a:endParaRPr lang="en-US" sz="2400" dirty="0">
                  <a:ea typeface="Cambria Math" panose="02040503050406030204" pitchFamily="18" charset="0"/>
                </a:endParaRPr>
              </a:p>
              <a:p>
                <a:pPr algn="just"/>
                <a:r>
                  <a:rPr lang="en-US" sz="2400" i="1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endParaRPr lang="en-US" sz="2400" b="0" i="1" dirty="0">
                  <a:ea typeface="Cambria Math" panose="02040503050406030204" pitchFamily="18" charset="0"/>
                </a:endParaRPr>
              </a:p>
              <a:p>
                <a:pPr algn="just"/>
                <a:r>
                  <a:rPr lang="en-US" sz="2400" b="0" dirty="0"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ru-R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Целые − </m:t>
                    </m:r>
                    <m:sSub>
                      <m:sSubPr>
                        <m:ctrlPr>
                          <a:rPr lang="ru-R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endParaRPr lang="en-US" sz="24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C02DB98-61EA-C6BC-D5FB-D73827E3C6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86" y="833180"/>
                <a:ext cx="8697253" cy="1968744"/>
              </a:xfrm>
              <a:prstGeom prst="rect">
                <a:avLst/>
              </a:prstGeom>
              <a:blipFill>
                <a:blip r:embed="rId3"/>
                <a:stretch>
                  <a:fillRect l="-1051" t="-2477" b="-185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17A7734-AB62-EA4C-DC75-AB4BE13CC103}"/>
                  </a:ext>
                </a:extLst>
              </p:cNvPr>
              <p:cNvSpPr txBox="1"/>
              <p:nvPr/>
            </p:nvSpPr>
            <p:spPr>
              <a:xfrm>
                <a:off x="5572438" y="3373732"/>
                <a:ext cx="6619562" cy="23380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400" i="1" dirty="0"/>
                  <a:t>3</a:t>
                </a:r>
                <a:r>
                  <a:rPr lang="ru-RU" sz="2400" i="1" dirty="0"/>
                  <a:t>)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=8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+2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−8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−5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−20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𝑚𝑖𝑛</m:t>
                    </m:r>
                  </m:oMath>
                </a14:m>
                <a:endParaRPr lang="en-US" sz="2400" b="0" i="1" dirty="0"/>
              </a:p>
              <a:p>
                <a:pPr algn="just"/>
                <a:r>
                  <a:rPr lang="en-US" sz="2400" i="1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+6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endParaRPr lang="en-US" sz="2400" b="0" dirty="0">
                  <a:ea typeface="Cambria Math" panose="02040503050406030204" pitchFamily="18" charset="0"/>
                </a:endParaRPr>
              </a:p>
              <a:p>
                <a:pPr algn="just"/>
                <a:r>
                  <a:rPr lang="en-US" sz="2400" i="1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+2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+8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endParaRPr lang="en-US" sz="2400" dirty="0">
                  <a:ea typeface="Cambria Math" panose="02040503050406030204" pitchFamily="18" charset="0"/>
                </a:endParaRPr>
              </a:p>
              <a:p>
                <a:pPr algn="just"/>
                <a:r>
                  <a:rPr lang="en-US" sz="2400" i="1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−4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=8</m:t>
                    </m:r>
                  </m:oMath>
                </a14:m>
                <a:endParaRPr lang="en-US" sz="2400" b="0" i="1" dirty="0">
                  <a:ea typeface="Cambria Math" panose="02040503050406030204" pitchFamily="18" charset="0"/>
                </a:endParaRPr>
              </a:p>
              <a:p>
                <a:pPr algn="just"/>
                <a:r>
                  <a:rPr lang="en-US" sz="2400" b="0" dirty="0"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</m:oMath>
                </a14:m>
                <a:endParaRPr lang="en-US" sz="2400" b="0" dirty="0">
                  <a:ea typeface="Cambria Math" panose="02040503050406030204" pitchFamily="18" charset="0"/>
                </a:endParaRPr>
              </a:p>
              <a:p>
                <a:pPr algn="just"/>
                <a:r>
                  <a:rPr lang="en-US" sz="2400" b="0" dirty="0"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ru-R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Целые − </m:t>
                    </m:r>
                    <m:sSub>
                      <m:sSubPr>
                        <m:ctrlPr>
                          <a:rPr lang="ru-R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ru-R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ru-R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ru-R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endParaRPr lang="en-US" sz="24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17A7734-AB62-EA4C-DC75-AB4BE13CC1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2438" y="3373732"/>
                <a:ext cx="6619562" cy="2338076"/>
              </a:xfrm>
              <a:prstGeom prst="rect">
                <a:avLst/>
              </a:prstGeom>
              <a:blipFill>
                <a:blip r:embed="rId4"/>
                <a:stretch>
                  <a:fillRect l="-1381" t="-2083" b="-156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411422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766</TotalTime>
  <Words>412</Words>
  <Application>Microsoft Office PowerPoint</Application>
  <PresentationFormat>Широкоэкранный</PresentationFormat>
  <Paragraphs>40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Cambria Math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SecurityCode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Рябова Екатерина</dc:creator>
  <cp:lastModifiedBy>Рябова Екатерина</cp:lastModifiedBy>
  <cp:revision>14</cp:revision>
  <dcterms:created xsi:type="dcterms:W3CDTF">2025-09-03T15:43:45Z</dcterms:created>
  <dcterms:modified xsi:type="dcterms:W3CDTF">2025-11-06T09:16:45Z</dcterms:modified>
</cp:coreProperties>
</file>