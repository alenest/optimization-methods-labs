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58" r:id="rId5"/>
    <p:sldId id="267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19E24-CC51-40D1-B947-0D5D2E6E4FD3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3D806-AF55-4BA7-862A-88F605DA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39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ECDDB-51D6-BFA9-55A7-B93C1538F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068767-5399-BCC9-5E41-00E66E8B4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96729-FA90-9E94-227A-33615B13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38AF5-A13B-CEA7-8A9E-36A2FCFE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D2398-44ED-602B-56E8-DFAB8B70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9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2D694-B912-0B02-0387-1DF6DEC2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F72BA-5DF4-B52B-AE46-577D5D0C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449CA-1B04-DD67-5923-1F8C89C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091A7-9D1C-BD8A-B8D7-B706CE92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08580-C48F-7824-C639-9B778752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8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3F90C-12B5-1C2B-EE99-9D2AFB80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87D0BE-4DA2-B04D-816A-8BABA220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838FA-6F3E-8E0F-A074-0746E5FC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EE0FC-3D98-89F7-2E79-1295CB9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4CD3F-B8BC-20AD-8739-ED934C19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35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CABD9-103E-2FAE-713A-BDB5B3FD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69854-31C5-E1C3-0CA7-87A1BD25F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8EC841-D906-0609-F1FC-31BD782C3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15345-86CE-3DB9-F049-108BEB56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E30E3-2B80-2BE5-C8A6-51F676DF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E0A24-1EE9-997B-519C-60D96C73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8D26-7A15-2A4B-EE0B-939D02F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10F7B-2A5E-B8FB-003B-9EC65D1F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42CBEA-58F9-2664-4006-919002A9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AECD25-BCE8-49A5-877F-1884BA5EA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2B15B9-1808-EF20-F9DD-2E7B37728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8FD988-B265-E2E5-D60B-2914711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26D928-CEF2-7898-2E52-F3CFFAB6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CE4F3A-4830-5031-46E1-B51B9B1F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13688-24C5-B47D-75C7-3A108598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7A56BE-F0D7-EB2B-51BE-C5D2C50C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EAF303-2E92-4104-8756-06460285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FF870-589C-9925-C72B-8176077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08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3B9B10-B3A8-CCE4-B034-7FAA3A7F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240013-D3A9-6BE7-F5BB-1250D78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54E64D-E498-ED86-48E8-191E37A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8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F4C0F-EDB7-643B-CF4E-48B5665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163E0-9E39-547D-2C74-5BF2C20F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7AB78E-9CD6-6655-666A-B3811C4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252B21-0EE0-3EE1-89AE-80500610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71F5B8-FF9E-1955-F770-25006E7C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B689B-BD67-6F46-CDDC-C1A6E892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0A45C-E1B1-01B0-391B-52061F6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25B4DE-0B84-5B4A-177D-4544BD370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DAF090-1543-949F-1A81-5031018DE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56ACEC-035F-1FE3-4DDC-53118F21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074AB-C5DC-5AD6-8E4F-236D0058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9B2AD6-4E2F-B741-0213-52D6B609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0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74D59-85A7-82C1-4136-6BC930DD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89EB6C-AC0D-66EA-22CD-DA43C830A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0C2C0-8393-D03A-40F7-7146B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57178-1C5D-3F9A-FBD3-CF8DE8E8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34288-D9AB-928B-358B-C684FDCB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9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4AD702-E748-3E17-B36B-1A8A9DF31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6FDD56-9023-79A7-C031-56DCC7CA6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32A8-ADCC-1E7C-DAAC-8BEE1300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7CA65-5E6E-0320-429E-AC72F1C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97B34-A093-27B6-7CF7-7149D7E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4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865F8-01D0-FC87-7F2F-CC17463D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128F0F-6F15-F964-E6A7-C1F3932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BAECB-AC93-C8CE-EB68-52ECCB0D4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1BDD8-67F2-4E5F-83E5-8BE86512678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46494-80E6-3887-7D2D-560C74587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7B632-E3F1-37CC-9EC4-5ED9F0D8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05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67F354-0B21-168F-5F90-3ADAFFCC96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15933-E7E1-78D8-10FC-AF5CBF72BCE1}"/>
              </a:ext>
            </a:extLst>
          </p:cNvPr>
          <p:cNvSpPr txBox="1"/>
          <p:nvPr/>
        </p:nvSpPr>
        <p:spPr>
          <a:xfrm>
            <a:off x="2585884" y="2446932"/>
            <a:ext cx="719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B97D2-B3B8-1BD5-3883-2EEED93E62BD}"/>
              </a:ext>
            </a:extLst>
          </p:cNvPr>
          <p:cNvSpPr txBox="1"/>
          <p:nvPr/>
        </p:nvSpPr>
        <p:spPr>
          <a:xfrm>
            <a:off x="2537952" y="3093263"/>
            <a:ext cx="71160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Лекция 6</a:t>
            </a:r>
          </a:p>
          <a:p>
            <a:pPr algn="ctr"/>
            <a:r>
              <a:rPr lang="ru-RU" sz="2800" dirty="0"/>
              <a:t>Задачи линейного программирования</a:t>
            </a:r>
          </a:p>
          <a:p>
            <a:pPr algn="ctr"/>
            <a:r>
              <a:rPr lang="ru-RU" sz="2800" dirty="0"/>
              <a:t>Двойственные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1449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Двойственность в задачах линейного программирования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B23EE-6AEC-D039-C60A-D7447F4F4690}"/>
              </a:ext>
            </a:extLst>
          </p:cNvPr>
          <p:cNvSpPr txBox="1"/>
          <p:nvPr/>
        </p:nvSpPr>
        <p:spPr>
          <a:xfrm>
            <a:off x="412954" y="2459504"/>
            <a:ext cx="112284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	С каждой задачей линейного программирования тесно связана другая линейная задача, называемая </a:t>
            </a:r>
            <a:r>
              <a:rPr lang="ru-RU" sz="2400" b="1" i="1" dirty="0"/>
              <a:t>двойственной</a:t>
            </a:r>
            <a:r>
              <a:rPr lang="ru-RU" sz="2400" dirty="0"/>
              <a:t>, при этом первоначальная задача называется </a:t>
            </a:r>
            <a:r>
              <a:rPr lang="ru-RU" sz="2400" b="1" i="1" dirty="0"/>
              <a:t>исходной</a:t>
            </a:r>
            <a:r>
              <a:rPr lang="ru-RU" sz="2400" dirty="0"/>
              <a:t> или </a:t>
            </a:r>
            <a:r>
              <a:rPr lang="ru-RU" sz="2400" b="1" i="1" dirty="0"/>
              <a:t>прямой</a:t>
            </a:r>
            <a:r>
              <a:rPr lang="ru-RU" sz="2400" dirty="0"/>
              <a:t>.</a:t>
            </a:r>
          </a:p>
          <a:p>
            <a:pPr algn="just"/>
            <a:r>
              <a:rPr lang="ru-RU" sz="2400" dirty="0"/>
              <a:t>	Двойственные задачи обычно делят на </a:t>
            </a:r>
            <a:r>
              <a:rPr lang="ru-RU" sz="2400" b="1" i="1" dirty="0"/>
              <a:t>симметричные </a:t>
            </a:r>
            <a:r>
              <a:rPr lang="ru-RU" sz="2400" dirty="0"/>
              <a:t>и </a:t>
            </a:r>
            <a:r>
              <a:rPr lang="ru-RU" sz="2400" b="1" i="1" dirty="0"/>
              <a:t>несимметричные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140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Правила построения двойственных задач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412954" y="933574"/>
                <a:ext cx="11228438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Матрица из коэффициентов при переменных в прямой задаче и аналогичная матрица в двойственной задаче получаются друг из друга транспонированием.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Ограничения – неравенства исходной задачи должны быть записаны так, чтобы знаки неравенств у них были направлены в одну сторону.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Знаки ограничений меняются на противоположные.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Если знаки неравенств в ограничениях прямой задачи «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ru-RU" sz="2400" dirty="0"/>
                  <a:t>», то целевая функция должна стремиться к максимуму, если «</a:t>
                </a:r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ru-RU" sz="2400" dirty="0"/>
                  <a:t>» – к минимуму.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Каждому ограничению исходной задачи соответствует неизвестное в двойственной задаче; при этом неизвестное, отвечающее ограничению-неравенству, должно удовлетворять условию неотрицательности, отвечающее ограничению-равенству – может быть любого знака.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Целевая функция двойственной задачи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должна оптимизироваться противоположно целевой функции исходной задачи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4" y="933574"/>
                <a:ext cx="11228438" cy="5262979"/>
              </a:xfrm>
              <a:prstGeom prst="rect">
                <a:avLst/>
              </a:prstGeom>
              <a:blipFill>
                <a:blip r:embed="rId2"/>
                <a:stretch>
                  <a:fillRect l="-760" t="-927" r="-814" b="-17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92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Симметричные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570270" y="973394"/>
                <a:ext cx="4611329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b="0" dirty="0"/>
                  <a:t>                                                   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⇾</a:t>
                </a:r>
                <a:endParaRPr lang="en-US" sz="2400" b="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973394"/>
                <a:ext cx="4611329" cy="1232966"/>
              </a:xfrm>
              <a:prstGeom prst="rect">
                <a:avLst/>
              </a:prstGeom>
              <a:blipFill>
                <a:blip r:embed="rId2"/>
                <a:stretch>
                  <a:fillRect l="-1190" r="-1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F20DD1-5171-0F20-2B95-256BE28A7F10}"/>
                  </a:ext>
                </a:extLst>
              </p:cNvPr>
              <p:cNvSpPr txBox="1"/>
              <p:nvPr/>
            </p:nvSpPr>
            <p:spPr>
              <a:xfrm>
                <a:off x="5864942" y="943407"/>
                <a:ext cx="3057832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F20DD1-5171-0F20-2B95-256BE28A7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942" y="943407"/>
                <a:ext cx="3057832" cy="1232966"/>
              </a:xfrm>
              <a:prstGeom prst="rect">
                <a:avLst/>
              </a:prstGeom>
              <a:blipFill>
                <a:blip r:embed="rId3"/>
                <a:stretch>
                  <a:fillRect l="-5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07C2C7-0895-5F27-89F7-D36EB1E49BF9}"/>
                  </a:ext>
                </a:extLst>
              </p:cNvPr>
              <p:cNvSpPr txBox="1"/>
              <p:nvPr/>
            </p:nvSpPr>
            <p:spPr>
              <a:xfrm>
                <a:off x="570270" y="3429000"/>
                <a:ext cx="4611329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b="0" dirty="0"/>
                  <a:t>                                                   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⇾</a:t>
                </a:r>
                <a:endParaRPr lang="en-US" sz="2400" b="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07C2C7-0895-5F27-89F7-D36EB1E49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3429000"/>
                <a:ext cx="4611329" cy="1232966"/>
              </a:xfrm>
              <a:prstGeom prst="rect">
                <a:avLst/>
              </a:prstGeom>
              <a:blipFill>
                <a:blip r:embed="rId4"/>
                <a:stretch>
                  <a:fillRect l="-1190" r="-1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79560E-C5B2-DD77-2C74-5AB2AF96C9AC}"/>
                  </a:ext>
                </a:extLst>
              </p:cNvPr>
              <p:cNvSpPr txBox="1"/>
              <p:nvPr/>
            </p:nvSpPr>
            <p:spPr>
              <a:xfrm>
                <a:off x="5864942" y="3413758"/>
                <a:ext cx="3057832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79560E-C5B2-DD77-2C74-5AB2AF96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942" y="3413758"/>
                <a:ext cx="3057832" cy="1232966"/>
              </a:xfrm>
              <a:prstGeom prst="rect">
                <a:avLst/>
              </a:prstGeom>
              <a:blipFill>
                <a:blip r:embed="rId5"/>
                <a:stretch>
                  <a:fillRect l="-5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447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Несимметричные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570270" y="973394"/>
                <a:ext cx="4611329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b="0" dirty="0"/>
                  <a:t>                                                   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⇾</a:t>
                </a:r>
                <a:endParaRPr lang="en-US" sz="2400" b="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973394"/>
                <a:ext cx="4611329" cy="1232966"/>
              </a:xfrm>
              <a:prstGeom prst="rect">
                <a:avLst/>
              </a:prstGeom>
              <a:blipFill>
                <a:blip r:embed="rId2"/>
                <a:stretch>
                  <a:fillRect l="-1190" r="-1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F20DD1-5171-0F20-2B95-256BE28A7F10}"/>
                  </a:ext>
                </a:extLst>
              </p:cNvPr>
              <p:cNvSpPr txBox="1"/>
              <p:nvPr/>
            </p:nvSpPr>
            <p:spPr>
              <a:xfrm>
                <a:off x="5864942" y="933574"/>
                <a:ext cx="30578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F20DD1-5171-0F20-2B95-256BE28A7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942" y="933574"/>
                <a:ext cx="3057832" cy="830997"/>
              </a:xfrm>
              <a:prstGeom prst="rect">
                <a:avLst/>
              </a:prstGeom>
              <a:blipFill>
                <a:blip r:embed="rId3"/>
                <a:stretch>
                  <a:fillRect l="-598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07C2C7-0895-5F27-89F7-D36EB1E49BF9}"/>
                  </a:ext>
                </a:extLst>
              </p:cNvPr>
              <p:cNvSpPr txBox="1"/>
              <p:nvPr/>
            </p:nvSpPr>
            <p:spPr>
              <a:xfrm>
                <a:off x="570270" y="3429000"/>
                <a:ext cx="4611329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b="0" dirty="0"/>
                  <a:t>                                                   </a:t>
                </a:r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⇾</a:t>
                </a:r>
                <a:endParaRPr lang="en-US" sz="2400" b="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07C2C7-0895-5F27-89F7-D36EB1E49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0" y="3429000"/>
                <a:ext cx="4611329" cy="1232966"/>
              </a:xfrm>
              <a:prstGeom prst="rect">
                <a:avLst/>
              </a:prstGeom>
              <a:blipFill>
                <a:blip r:embed="rId4"/>
                <a:stretch>
                  <a:fillRect l="-1190" r="-1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79560E-C5B2-DD77-2C74-5AB2AF96C9AC}"/>
                  </a:ext>
                </a:extLst>
              </p:cNvPr>
              <p:cNvSpPr txBox="1"/>
              <p:nvPr/>
            </p:nvSpPr>
            <p:spPr>
              <a:xfrm>
                <a:off x="5864942" y="3413758"/>
                <a:ext cx="30578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79560E-C5B2-DD77-2C74-5AB2AF96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942" y="3413758"/>
                <a:ext cx="3057832" cy="830997"/>
              </a:xfrm>
              <a:prstGeom prst="rect">
                <a:avLst/>
              </a:prstGeom>
              <a:blipFill>
                <a:blip r:embed="rId5"/>
                <a:stretch>
                  <a:fillRect l="-598" b="-51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481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Задачи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6B4733-1C09-BFAB-C921-67A5C98B0B4A}"/>
                  </a:ext>
                </a:extLst>
              </p:cNvPr>
              <p:cNvSpPr txBox="1"/>
              <p:nvPr/>
            </p:nvSpPr>
            <p:spPr>
              <a:xfrm>
                <a:off x="125367" y="2697253"/>
                <a:ext cx="5966952" cy="159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2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≥4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6B4733-1C09-BFAB-C921-67A5C98B0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67" y="2697253"/>
                <a:ext cx="5966952" cy="1599412"/>
              </a:xfrm>
              <a:prstGeom prst="rect">
                <a:avLst/>
              </a:prstGeom>
              <a:blipFill>
                <a:blip r:embed="rId2"/>
                <a:stretch>
                  <a:fillRect l="-1636" t="-3042" b="-22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2DB98-61EA-C6BC-D5FB-D73827E3C625}"/>
                  </a:ext>
                </a:extLst>
              </p:cNvPr>
              <p:cNvSpPr txBox="1"/>
              <p:nvPr/>
            </p:nvSpPr>
            <p:spPr>
              <a:xfrm>
                <a:off x="92787" y="833180"/>
                <a:ext cx="6259464" cy="159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1</a:t>
                </a:r>
                <a:r>
                  <a:rPr lang="ru-RU" sz="2400" i="1" dirty="0"/>
                  <a:t>)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27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+15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2DB98-61EA-C6BC-D5FB-D73827E3C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7" y="833180"/>
                <a:ext cx="6259464" cy="1599412"/>
              </a:xfrm>
              <a:prstGeom prst="rect">
                <a:avLst/>
              </a:prstGeom>
              <a:blipFill>
                <a:blip r:embed="rId3"/>
                <a:stretch>
                  <a:fillRect l="-1461" t="-3053" b="-26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2212B6-4DAA-EC7B-FB34-BA24AAC12E51}"/>
                  </a:ext>
                </a:extLst>
              </p:cNvPr>
              <p:cNvSpPr txBox="1"/>
              <p:nvPr/>
            </p:nvSpPr>
            <p:spPr>
              <a:xfrm>
                <a:off x="6445037" y="4373091"/>
                <a:ext cx="5336460" cy="196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6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2212B6-4DAA-EC7B-FB34-BA24AAC12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37" y="4373091"/>
                <a:ext cx="5336460" cy="1968744"/>
              </a:xfrm>
              <a:prstGeom prst="rect">
                <a:avLst/>
              </a:prstGeom>
              <a:blipFill>
                <a:blip r:embed="rId4"/>
                <a:stretch>
                  <a:fillRect l="-1712" t="-2477" b="-18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A7734-AB62-EA4C-DC75-AB4BE13CC103}"/>
                  </a:ext>
                </a:extLst>
              </p:cNvPr>
              <p:cNvSpPr txBox="1"/>
              <p:nvPr/>
            </p:nvSpPr>
            <p:spPr>
              <a:xfrm>
                <a:off x="6477618" y="833180"/>
                <a:ext cx="5439703" cy="196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4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≥4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A7734-AB62-EA4C-DC75-AB4BE13CC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618" y="833180"/>
                <a:ext cx="5439703" cy="1968744"/>
              </a:xfrm>
              <a:prstGeom prst="rect">
                <a:avLst/>
              </a:prstGeom>
              <a:blipFill>
                <a:blip r:embed="rId5"/>
                <a:stretch>
                  <a:fillRect l="-1794" t="-2477" b="-18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B09E3A-1E2F-43C2-C29E-0E5C235D81DB}"/>
                  </a:ext>
                </a:extLst>
              </p:cNvPr>
              <p:cNvSpPr txBox="1"/>
              <p:nvPr/>
            </p:nvSpPr>
            <p:spPr>
              <a:xfrm>
                <a:off x="6445037" y="2697253"/>
                <a:ext cx="5621596" cy="159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5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B09E3A-1E2F-43C2-C29E-0E5C235D8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37" y="2697253"/>
                <a:ext cx="5621596" cy="1599412"/>
              </a:xfrm>
              <a:prstGeom prst="rect">
                <a:avLst/>
              </a:prstGeom>
              <a:blipFill>
                <a:blip r:embed="rId6"/>
                <a:stretch>
                  <a:fillRect l="-1627" t="-3042" b="-22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04652E-B235-9F7C-5DDC-E7898843422F}"/>
                  </a:ext>
                </a:extLst>
              </p:cNvPr>
              <p:cNvSpPr txBox="1"/>
              <p:nvPr/>
            </p:nvSpPr>
            <p:spPr>
              <a:xfrm>
                <a:off x="125367" y="4373091"/>
                <a:ext cx="5102943" cy="159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3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04652E-B235-9F7C-5DDC-E78988434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67" y="4373091"/>
                <a:ext cx="5102943" cy="1599412"/>
              </a:xfrm>
              <a:prstGeom prst="rect">
                <a:avLst/>
              </a:prstGeom>
              <a:blipFill>
                <a:blip r:embed="rId7"/>
                <a:stretch>
                  <a:fillRect l="-1912" t="-3042" b="-22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114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518</Words>
  <Application>Microsoft Office PowerPoint</Application>
  <PresentationFormat>Широкоэкранный</PresentationFormat>
  <Paragraphs>65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SecurityCode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Рябова Екатерина</dc:creator>
  <cp:lastModifiedBy>Рябова Екатерина</cp:lastModifiedBy>
  <cp:revision>9</cp:revision>
  <dcterms:created xsi:type="dcterms:W3CDTF">2025-09-03T15:43:45Z</dcterms:created>
  <dcterms:modified xsi:type="dcterms:W3CDTF">2025-10-23T09:06:21Z</dcterms:modified>
</cp:coreProperties>
</file>